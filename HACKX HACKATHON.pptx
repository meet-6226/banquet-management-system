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Arial MT Pro Bold Italics" charset="1" panose="020B0802020202090204"/>
      <p:regular r:id="rId14"/>
    </p:embeddedFont>
    <p:embeddedFont>
      <p:font typeface="Touvlo Bold" charset="1" panose="020B0804030403020204"/>
      <p:regular r:id="rId15"/>
    </p:embeddedFont>
    <p:embeddedFont>
      <p:font typeface="Touvlo" charset="1" panose="020B0604030403020204"/>
      <p:regular r:id="rId16"/>
    </p:embeddedFont>
    <p:embeddedFont>
      <p:font typeface="Arial MT Pro Bold" charset="1" panose="020B08020202020202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.png" Type="http://schemas.openxmlformats.org/officeDocument/2006/relationships/image"/><Relationship Id="rId11" Target="../media/image2.sv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svg" Type="http://schemas.openxmlformats.org/officeDocument/2006/relationships/image"/><Relationship Id="rId12" Target="../media/image2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74566" y="5143500"/>
            <a:ext cx="2921026" cy="2921026"/>
          </a:xfrm>
          <a:custGeom>
            <a:avLst/>
            <a:gdLst/>
            <a:ahLst/>
            <a:cxnLst/>
            <a:rect r="r" b="b" t="t" l="l"/>
            <a:pathLst>
              <a:path h="2921026" w="2921026">
                <a:moveTo>
                  <a:pt x="0" y="0"/>
                </a:moveTo>
                <a:lnTo>
                  <a:pt x="2921027" y="0"/>
                </a:lnTo>
                <a:lnTo>
                  <a:pt x="2921027" y="2921026"/>
                </a:lnTo>
                <a:lnTo>
                  <a:pt x="0" y="29210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13785" y="9097221"/>
            <a:ext cx="2878271" cy="816382"/>
          </a:xfrm>
          <a:custGeom>
            <a:avLst/>
            <a:gdLst/>
            <a:ahLst/>
            <a:cxnLst/>
            <a:rect r="r" b="b" t="t" l="l"/>
            <a:pathLst>
              <a:path h="816382" w="2878271">
                <a:moveTo>
                  <a:pt x="0" y="0"/>
                </a:moveTo>
                <a:lnTo>
                  <a:pt x="2878271" y="0"/>
                </a:lnTo>
                <a:lnTo>
                  <a:pt x="2878271" y="816382"/>
                </a:lnTo>
                <a:lnTo>
                  <a:pt x="0" y="8163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234651" y="-1643786"/>
            <a:ext cx="3287571" cy="3287571"/>
          </a:xfrm>
          <a:custGeom>
            <a:avLst/>
            <a:gdLst/>
            <a:ahLst/>
            <a:cxnLst/>
            <a:rect r="r" b="b" t="t" l="l"/>
            <a:pathLst>
              <a:path h="3287571" w="3287571">
                <a:moveTo>
                  <a:pt x="0" y="0"/>
                </a:moveTo>
                <a:lnTo>
                  <a:pt x="3287571" y="0"/>
                </a:lnTo>
                <a:lnTo>
                  <a:pt x="3287571" y="3287572"/>
                </a:lnTo>
                <a:lnTo>
                  <a:pt x="0" y="32875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89459" y="1014620"/>
            <a:ext cx="16081487" cy="1369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080"/>
              </a:lnSpc>
            </a:pPr>
            <a:r>
              <a:rPr lang="en-US" b="true" sz="7200" i="true">
                <a:solidFill>
                  <a:srgbClr val="2B1512"/>
                </a:solidFill>
                <a:latin typeface="Arial MT Pro Bold Italics"/>
                <a:ea typeface="Arial MT Pro Bold Italics"/>
                <a:cs typeface="Arial MT Pro Bold Italics"/>
                <a:sym typeface="Arial MT Pro Bold Italics"/>
              </a:rPr>
              <a:t>BANQUET MANAGEMENT SYSTEM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79116" y="2911536"/>
            <a:ext cx="15206380" cy="5481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24"/>
              </a:lnSpc>
            </a:pPr>
            <a:r>
              <a:rPr lang="en-US" b="true" sz="4400" spc="30">
                <a:solidFill>
                  <a:srgbClr val="2B1512"/>
                </a:solidFill>
                <a:latin typeface="Touvlo Bold"/>
                <a:ea typeface="Touvlo Bold"/>
                <a:cs typeface="Touvlo Bold"/>
                <a:sym typeface="Touvlo Bold"/>
              </a:rPr>
              <a:t>PROBLEM STATEMENT : 3</a:t>
            </a:r>
          </a:p>
          <a:p>
            <a:pPr algn="l">
              <a:lnSpc>
                <a:spcPts val="4274"/>
              </a:lnSpc>
            </a:pPr>
            <a:r>
              <a:rPr lang="en-US" b="true" sz="2499" spc="17">
                <a:solidFill>
                  <a:srgbClr val="2B1512"/>
                </a:solidFill>
                <a:latin typeface="Touvlo Bold"/>
                <a:ea typeface="Touvlo Bold"/>
                <a:cs typeface="Touvlo Bold"/>
                <a:sym typeface="Touvlo Bold"/>
              </a:rPr>
              <a:t>  </a:t>
            </a:r>
          </a:p>
          <a:p>
            <a:pPr algn="l">
              <a:lnSpc>
                <a:spcPts val="7524"/>
              </a:lnSpc>
            </a:pPr>
            <a:r>
              <a:rPr lang="en-US" b="true" sz="4400" spc="30">
                <a:solidFill>
                  <a:srgbClr val="2B1512"/>
                </a:solidFill>
                <a:latin typeface="Touvlo Bold"/>
                <a:ea typeface="Touvlo Bold"/>
                <a:cs typeface="Touvlo Bold"/>
                <a:sym typeface="Touvlo Bold"/>
              </a:rPr>
              <a:t>TEAM NAME : 4 MUSKETEERS</a:t>
            </a:r>
          </a:p>
          <a:p>
            <a:pPr algn="l">
              <a:lnSpc>
                <a:spcPts val="4274"/>
              </a:lnSpc>
            </a:pPr>
          </a:p>
          <a:p>
            <a:pPr algn="l">
              <a:lnSpc>
                <a:spcPts val="7524"/>
              </a:lnSpc>
            </a:pPr>
            <a:r>
              <a:rPr lang="en-US" b="true" sz="4400" spc="30">
                <a:solidFill>
                  <a:srgbClr val="2B1512"/>
                </a:solidFill>
                <a:latin typeface="Touvlo Bold"/>
                <a:ea typeface="Touvlo Bold"/>
                <a:cs typeface="Touvlo Bold"/>
                <a:sym typeface="Touvlo Bold"/>
              </a:rPr>
              <a:t>MEMBERS: </a:t>
            </a:r>
          </a:p>
          <a:p>
            <a:pPr algn="l">
              <a:lnSpc>
                <a:spcPts val="13873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5275497" y="5942505"/>
            <a:ext cx="6114359" cy="2854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34"/>
              </a:lnSpc>
            </a:pPr>
            <a:r>
              <a:rPr lang="en-US" sz="3699" b="true">
                <a:solidFill>
                  <a:srgbClr val="2B1512"/>
                </a:solidFill>
                <a:latin typeface="Touvlo Bold"/>
                <a:ea typeface="Touvlo Bold"/>
                <a:cs typeface="Touvlo Bold"/>
                <a:sym typeface="Touvlo Bold"/>
              </a:rPr>
              <a:t>AAVANI PERUMBESSI</a:t>
            </a:r>
          </a:p>
          <a:p>
            <a:pPr algn="l">
              <a:lnSpc>
                <a:spcPts val="5734"/>
              </a:lnSpc>
            </a:pPr>
            <a:r>
              <a:rPr lang="en-US" sz="3699" b="true">
                <a:solidFill>
                  <a:srgbClr val="2B1512"/>
                </a:solidFill>
                <a:latin typeface="Touvlo Bold"/>
                <a:ea typeface="Touvlo Bold"/>
                <a:cs typeface="Touvlo Bold"/>
                <a:sym typeface="Touvlo Bold"/>
              </a:rPr>
              <a:t>SAKSHI POKHRIYAL </a:t>
            </a:r>
          </a:p>
          <a:p>
            <a:pPr algn="l">
              <a:lnSpc>
                <a:spcPts val="5734"/>
              </a:lnSpc>
            </a:pPr>
            <a:r>
              <a:rPr lang="en-US" sz="3699" b="true">
                <a:solidFill>
                  <a:srgbClr val="2B1512"/>
                </a:solidFill>
                <a:latin typeface="Touvlo Bold"/>
                <a:ea typeface="Touvlo Bold"/>
                <a:cs typeface="Touvlo Bold"/>
                <a:sym typeface="Touvlo Bold"/>
              </a:rPr>
              <a:t>MEET  ALSHI</a:t>
            </a:r>
          </a:p>
          <a:p>
            <a:pPr algn="l">
              <a:lnSpc>
                <a:spcPts val="5734"/>
              </a:lnSpc>
            </a:pPr>
            <a:r>
              <a:rPr lang="en-US" sz="3699" b="true">
                <a:solidFill>
                  <a:srgbClr val="2B1512"/>
                </a:solidFill>
                <a:latin typeface="Touvlo Bold"/>
                <a:ea typeface="Touvlo Bold"/>
                <a:cs typeface="Touvlo Bold"/>
                <a:sym typeface="Touvlo Bold"/>
              </a:rPr>
              <a:t>AYUSH KUMAR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4817321" y="212318"/>
            <a:ext cx="2878271" cy="816382"/>
          </a:xfrm>
          <a:custGeom>
            <a:avLst/>
            <a:gdLst/>
            <a:ahLst/>
            <a:cxnLst/>
            <a:rect r="r" b="b" t="t" l="l"/>
            <a:pathLst>
              <a:path h="816382" w="2878271">
                <a:moveTo>
                  <a:pt x="0" y="0"/>
                </a:moveTo>
                <a:lnTo>
                  <a:pt x="2878272" y="0"/>
                </a:lnTo>
                <a:lnTo>
                  <a:pt x="2878272" y="816382"/>
                </a:lnTo>
                <a:lnTo>
                  <a:pt x="0" y="8163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631788" y="9483266"/>
            <a:ext cx="13878890" cy="438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2B1512"/>
                </a:solidFill>
                <a:latin typeface="Touvlo"/>
                <a:ea typeface="Touvlo"/>
                <a:cs typeface="Touvlo"/>
                <a:sym typeface="Touvlo"/>
              </a:rPr>
              <a:t>GITHUB REPO : HTTPS://GITHUB.COM/MEET-6226/4MUSKETEERS-PS3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91139" y="8826487"/>
            <a:ext cx="2921026" cy="2921026"/>
          </a:xfrm>
          <a:custGeom>
            <a:avLst/>
            <a:gdLst/>
            <a:ahLst/>
            <a:cxnLst/>
            <a:rect r="r" b="b" t="t" l="l"/>
            <a:pathLst>
              <a:path h="2921026" w="2921026">
                <a:moveTo>
                  <a:pt x="0" y="0"/>
                </a:moveTo>
                <a:lnTo>
                  <a:pt x="2921027" y="0"/>
                </a:lnTo>
                <a:lnTo>
                  <a:pt x="2921027" y="2921026"/>
                </a:lnTo>
                <a:lnTo>
                  <a:pt x="0" y="29210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524760"/>
            <a:ext cx="2878271" cy="816382"/>
          </a:xfrm>
          <a:custGeom>
            <a:avLst/>
            <a:gdLst/>
            <a:ahLst/>
            <a:cxnLst/>
            <a:rect r="r" b="b" t="t" l="l"/>
            <a:pathLst>
              <a:path h="816382" w="2878271">
                <a:moveTo>
                  <a:pt x="0" y="0"/>
                </a:moveTo>
                <a:lnTo>
                  <a:pt x="2878271" y="0"/>
                </a:lnTo>
                <a:lnTo>
                  <a:pt x="2878271" y="816383"/>
                </a:lnTo>
                <a:lnTo>
                  <a:pt x="0" y="8163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207093" y="-1946428"/>
            <a:ext cx="3287571" cy="3287571"/>
          </a:xfrm>
          <a:custGeom>
            <a:avLst/>
            <a:gdLst/>
            <a:ahLst/>
            <a:cxnLst/>
            <a:rect r="r" b="b" t="t" l="l"/>
            <a:pathLst>
              <a:path h="3287571" w="3287571">
                <a:moveTo>
                  <a:pt x="0" y="0"/>
                </a:moveTo>
                <a:lnTo>
                  <a:pt x="3287571" y="0"/>
                </a:lnTo>
                <a:lnTo>
                  <a:pt x="3287571" y="3287571"/>
                </a:lnTo>
                <a:lnTo>
                  <a:pt x="0" y="32875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6928616" y="4146308"/>
            <a:ext cx="661368" cy="1875014"/>
          </a:xfrm>
          <a:custGeom>
            <a:avLst/>
            <a:gdLst/>
            <a:ahLst/>
            <a:cxnLst/>
            <a:rect r="r" b="b" t="t" l="l"/>
            <a:pathLst>
              <a:path h="1875014" w="661368">
                <a:moveTo>
                  <a:pt x="0" y="0"/>
                </a:moveTo>
                <a:lnTo>
                  <a:pt x="661368" y="0"/>
                </a:lnTo>
                <a:lnTo>
                  <a:pt x="661368" y="1875014"/>
                </a:lnTo>
                <a:lnTo>
                  <a:pt x="0" y="18750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729518" y="1808746"/>
            <a:ext cx="10377628" cy="1327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b="true" sz="6999" i="true">
                <a:solidFill>
                  <a:srgbClr val="2B1512"/>
                </a:solidFill>
                <a:latin typeface="Arial MT Pro Bold Italics"/>
                <a:ea typeface="Arial MT Pro Bold Italics"/>
                <a:cs typeface="Arial MT Pro Bold Italics"/>
                <a:sym typeface="Arial MT Pro Bold Italics"/>
              </a:rPr>
              <a:t>PROBLEM STATEMENT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729518" y="3256199"/>
            <a:ext cx="10377628" cy="6510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2B1512"/>
                </a:solidFill>
                <a:latin typeface="Touvlo"/>
                <a:ea typeface="Touvlo"/>
                <a:cs typeface="Touvlo"/>
                <a:sym typeface="Touvlo"/>
              </a:rPr>
              <a:t>M</a:t>
            </a:r>
            <a:r>
              <a:rPr lang="en-US" sz="3399">
                <a:solidFill>
                  <a:srgbClr val="2B1512"/>
                </a:solidFill>
                <a:latin typeface="Touvlo"/>
                <a:ea typeface="Touvlo"/>
                <a:cs typeface="Touvlo"/>
                <a:sym typeface="Touvlo"/>
              </a:rPr>
              <a:t>ulti-branch banquet halls rely on manual registers &amp; spreadsheets causing: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2B1512"/>
                </a:solidFill>
                <a:latin typeface="Touvlo"/>
                <a:ea typeface="Touvlo"/>
                <a:cs typeface="Touvlo"/>
                <a:sym typeface="Touvlo"/>
              </a:rPr>
              <a:t>Missed leads &amp; follow-ups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2B1512"/>
                </a:solidFill>
                <a:latin typeface="Touvlo"/>
                <a:ea typeface="Touvlo"/>
                <a:cs typeface="Touvlo"/>
                <a:sym typeface="Touvlo"/>
              </a:rPr>
              <a:t>Double bookings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2B1512"/>
                </a:solidFill>
                <a:latin typeface="Touvlo"/>
                <a:ea typeface="Touvlo"/>
                <a:cs typeface="Touvlo"/>
                <a:sym typeface="Touvlo"/>
              </a:rPr>
              <a:t>Poor inter-department coordination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2B1512"/>
                </a:solidFill>
                <a:latin typeface="Touvlo"/>
                <a:ea typeface="Touvlo"/>
                <a:cs typeface="Touvlo"/>
                <a:sym typeface="Touvlo"/>
              </a:rPr>
              <a:t>Billing &amp; payment tracking issues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2B1512"/>
                </a:solidFill>
                <a:latin typeface="Touvlo"/>
                <a:ea typeface="Touvlo"/>
                <a:cs typeface="Touvlo"/>
                <a:sym typeface="Touvlo"/>
              </a:rPr>
              <a:t>No centralized reporting</a:t>
            </a:r>
          </a:p>
          <a:p>
            <a:pPr algn="l">
              <a:lnSpc>
                <a:spcPts val="4759"/>
              </a:lnSpc>
            </a:pP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2B1512"/>
                </a:solidFill>
                <a:latin typeface="Touvlo"/>
                <a:ea typeface="Touvlo"/>
                <a:cs typeface="Touvlo"/>
                <a:sym typeface="Touvlo"/>
              </a:rPr>
              <a:t>➡ Result: Revenue loss and lack of operational visibility.</a:t>
            </a:r>
          </a:p>
          <a:p>
            <a:pPr algn="l">
              <a:lnSpc>
                <a:spcPts val="4200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615086" y="8459942"/>
            <a:ext cx="3287571" cy="3287571"/>
          </a:xfrm>
          <a:custGeom>
            <a:avLst/>
            <a:gdLst/>
            <a:ahLst/>
            <a:cxnLst/>
            <a:rect r="r" b="b" t="t" l="l"/>
            <a:pathLst>
              <a:path h="3287571" w="3287571">
                <a:moveTo>
                  <a:pt x="0" y="0"/>
                </a:moveTo>
                <a:lnTo>
                  <a:pt x="3287572" y="0"/>
                </a:lnTo>
                <a:lnTo>
                  <a:pt x="3287572" y="3287571"/>
                </a:lnTo>
                <a:lnTo>
                  <a:pt x="0" y="32875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-1276798"/>
            <a:ext cx="2921026" cy="2921026"/>
          </a:xfrm>
          <a:custGeom>
            <a:avLst/>
            <a:gdLst/>
            <a:ahLst/>
            <a:cxnLst/>
            <a:rect r="r" b="b" t="t" l="l"/>
            <a:pathLst>
              <a:path h="2921026" w="2921026">
                <a:moveTo>
                  <a:pt x="0" y="0"/>
                </a:moveTo>
                <a:lnTo>
                  <a:pt x="2921026" y="0"/>
                </a:lnTo>
                <a:lnTo>
                  <a:pt x="2921026" y="2921027"/>
                </a:lnTo>
                <a:lnTo>
                  <a:pt x="0" y="29210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936722" y="8927616"/>
            <a:ext cx="2878271" cy="816382"/>
          </a:xfrm>
          <a:custGeom>
            <a:avLst/>
            <a:gdLst/>
            <a:ahLst/>
            <a:cxnLst/>
            <a:rect r="r" b="b" t="t" l="l"/>
            <a:pathLst>
              <a:path h="816382" w="2878271">
                <a:moveTo>
                  <a:pt x="0" y="0"/>
                </a:moveTo>
                <a:lnTo>
                  <a:pt x="2878271" y="0"/>
                </a:lnTo>
                <a:lnTo>
                  <a:pt x="2878271" y="816382"/>
                </a:lnTo>
                <a:lnTo>
                  <a:pt x="0" y="8163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384286" y="7888463"/>
            <a:ext cx="4478710" cy="4478710"/>
          </a:xfrm>
          <a:custGeom>
            <a:avLst/>
            <a:gdLst/>
            <a:ahLst/>
            <a:cxnLst/>
            <a:rect r="r" b="b" t="t" l="l"/>
            <a:pathLst>
              <a:path h="4478710" w="4478710">
                <a:moveTo>
                  <a:pt x="0" y="0"/>
                </a:moveTo>
                <a:lnTo>
                  <a:pt x="4478710" y="0"/>
                </a:lnTo>
                <a:lnTo>
                  <a:pt x="4478710" y="4478710"/>
                </a:lnTo>
                <a:lnTo>
                  <a:pt x="0" y="44787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1635523" y="8320793"/>
            <a:ext cx="661368" cy="1875014"/>
          </a:xfrm>
          <a:custGeom>
            <a:avLst/>
            <a:gdLst/>
            <a:ahLst/>
            <a:cxnLst/>
            <a:rect r="r" b="b" t="t" l="l"/>
            <a:pathLst>
              <a:path h="1875014" w="661368">
                <a:moveTo>
                  <a:pt x="0" y="0"/>
                </a:moveTo>
                <a:lnTo>
                  <a:pt x="661368" y="0"/>
                </a:lnTo>
                <a:lnTo>
                  <a:pt x="661368" y="1875014"/>
                </a:lnTo>
                <a:lnTo>
                  <a:pt x="0" y="18750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48276" y="1983154"/>
            <a:ext cx="10377628" cy="1327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799"/>
              </a:lnSpc>
            </a:pPr>
            <a:r>
              <a:rPr lang="en-US" b="true" sz="6999" i="true">
                <a:solidFill>
                  <a:srgbClr val="2B1512"/>
                </a:solidFill>
                <a:latin typeface="Arial MT Pro Bold Italics"/>
                <a:ea typeface="Arial MT Pro Bold Italics"/>
                <a:cs typeface="Arial MT Pro Bold Italics"/>
                <a:sym typeface="Arial MT Pro Bold Italics"/>
              </a:rPr>
              <a:t>OBJECTIVE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97329" y="3617444"/>
            <a:ext cx="10899673" cy="5971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2B1512"/>
                </a:solidFill>
                <a:latin typeface="Touvlo"/>
                <a:ea typeface="Touvlo"/>
                <a:cs typeface="Touvlo"/>
                <a:sym typeface="Touvlo"/>
              </a:rPr>
              <a:t>Build a centralized, role-based banquet management platform that: 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2B1512"/>
                </a:solidFill>
                <a:latin typeface="Touvlo"/>
                <a:ea typeface="Touvlo"/>
                <a:cs typeface="Touvlo"/>
                <a:sym typeface="Touvlo"/>
              </a:rPr>
              <a:t>Manages leads to event completion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2B1512"/>
                </a:solidFill>
                <a:latin typeface="Touvlo"/>
                <a:ea typeface="Touvlo"/>
                <a:cs typeface="Touvlo"/>
                <a:sym typeface="Touvlo"/>
              </a:rPr>
              <a:t>Prevents booking conflicts using real-time availability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2B1512"/>
                </a:solidFill>
                <a:latin typeface="Touvlo"/>
                <a:ea typeface="Touvlo"/>
                <a:cs typeface="Touvlo"/>
                <a:sym typeface="Touvlo"/>
              </a:rPr>
              <a:t>Tracks billing &amp; payments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2B1512"/>
                </a:solidFill>
                <a:latin typeface="Touvlo"/>
                <a:ea typeface="Touvlo"/>
                <a:cs typeface="Touvlo"/>
                <a:sym typeface="Touvlo"/>
              </a:rPr>
              <a:t>Manages vendors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2B1512"/>
                </a:solidFill>
                <a:latin typeface="Touvlo"/>
                <a:ea typeface="Touvlo"/>
                <a:cs typeface="Touvlo"/>
                <a:sym typeface="Touvlo"/>
              </a:rPr>
              <a:t>Provides branch-wise dashboards</a:t>
            </a:r>
          </a:p>
          <a:p>
            <a:pPr algn="l">
              <a:lnSpc>
                <a:spcPts val="4759"/>
              </a:lnSpc>
            </a:pPr>
          </a:p>
          <a:p>
            <a:pPr algn="l">
              <a:lnSpc>
                <a:spcPts val="4759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5149219" y="-1099047"/>
            <a:ext cx="2921026" cy="2921026"/>
          </a:xfrm>
          <a:custGeom>
            <a:avLst/>
            <a:gdLst/>
            <a:ahLst/>
            <a:cxnLst/>
            <a:rect r="r" b="b" t="t" l="l"/>
            <a:pathLst>
              <a:path h="2921026" w="2921026">
                <a:moveTo>
                  <a:pt x="0" y="0"/>
                </a:moveTo>
                <a:lnTo>
                  <a:pt x="2921026" y="0"/>
                </a:lnTo>
                <a:lnTo>
                  <a:pt x="2921026" y="2921026"/>
                </a:lnTo>
                <a:lnTo>
                  <a:pt x="0" y="292102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28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370377" y="-1877889"/>
            <a:ext cx="4478710" cy="4478710"/>
          </a:xfrm>
          <a:custGeom>
            <a:avLst/>
            <a:gdLst/>
            <a:ahLst/>
            <a:cxnLst/>
            <a:rect r="r" b="b" t="t" l="l"/>
            <a:pathLst>
              <a:path h="4478710" w="4478710">
                <a:moveTo>
                  <a:pt x="0" y="0"/>
                </a:moveTo>
                <a:lnTo>
                  <a:pt x="4478710" y="0"/>
                </a:lnTo>
                <a:lnTo>
                  <a:pt x="4478710" y="4478710"/>
                </a:lnTo>
                <a:lnTo>
                  <a:pt x="0" y="44787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38274" y="-1460513"/>
            <a:ext cx="2921026" cy="2921026"/>
          </a:xfrm>
          <a:custGeom>
            <a:avLst/>
            <a:gdLst/>
            <a:ahLst/>
            <a:cxnLst/>
            <a:rect r="r" b="b" t="t" l="l"/>
            <a:pathLst>
              <a:path h="2921026" w="2921026">
                <a:moveTo>
                  <a:pt x="0" y="0"/>
                </a:moveTo>
                <a:lnTo>
                  <a:pt x="2921026" y="0"/>
                </a:lnTo>
                <a:lnTo>
                  <a:pt x="2921026" y="2921026"/>
                </a:lnTo>
                <a:lnTo>
                  <a:pt x="0" y="29210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-818627" y="1052322"/>
            <a:ext cx="2878271" cy="816382"/>
          </a:xfrm>
          <a:custGeom>
            <a:avLst/>
            <a:gdLst/>
            <a:ahLst/>
            <a:cxnLst/>
            <a:rect r="r" b="b" t="t" l="l"/>
            <a:pathLst>
              <a:path h="816382" w="2878271">
                <a:moveTo>
                  <a:pt x="0" y="0"/>
                </a:moveTo>
                <a:lnTo>
                  <a:pt x="2878271" y="0"/>
                </a:lnTo>
                <a:lnTo>
                  <a:pt x="2878271" y="816382"/>
                </a:lnTo>
                <a:lnTo>
                  <a:pt x="0" y="8163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56046" y="289902"/>
            <a:ext cx="17033412" cy="10390381"/>
          </a:xfrm>
          <a:custGeom>
            <a:avLst/>
            <a:gdLst/>
            <a:ahLst/>
            <a:cxnLst/>
            <a:rect r="r" b="b" t="t" l="l"/>
            <a:pathLst>
              <a:path h="10390381" w="17033412">
                <a:moveTo>
                  <a:pt x="0" y="0"/>
                </a:moveTo>
                <a:lnTo>
                  <a:pt x="17033411" y="0"/>
                </a:lnTo>
                <a:lnTo>
                  <a:pt x="17033411" y="10390381"/>
                </a:lnTo>
                <a:lnTo>
                  <a:pt x="0" y="103903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50660" y="8341575"/>
            <a:ext cx="2921026" cy="2921026"/>
          </a:xfrm>
          <a:custGeom>
            <a:avLst/>
            <a:gdLst/>
            <a:ahLst/>
            <a:cxnLst/>
            <a:rect r="r" b="b" t="t" l="l"/>
            <a:pathLst>
              <a:path h="2921026" w="2921026">
                <a:moveTo>
                  <a:pt x="0" y="0"/>
                </a:moveTo>
                <a:lnTo>
                  <a:pt x="2921026" y="0"/>
                </a:lnTo>
                <a:lnTo>
                  <a:pt x="2921026" y="2921026"/>
                </a:lnTo>
                <a:lnTo>
                  <a:pt x="0" y="29210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506015" y="524760"/>
            <a:ext cx="2878271" cy="816382"/>
          </a:xfrm>
          <a:custGeom>
            <a:avLst/>
            <a:gdLst/>
            <a:ahLst/>
            <a:cxnLst/>
            <a:rect r="r" b="b" t="t" l="l"/>
            <a:pathLst>
              <a:path h="816382" w="2878271">
                <a:moveTo>
                  <a:pt x="0" y="0"/>
                </a:moveTo>
                <a:lnTo>
                  <a:pt x="2878271" y="0"/>
                </a:lnTo>
                <a:lnTo>
                  <a:pt x="2878271" y="816383"/>
                </a:lnTo>
                <a:lnTo>
                  <a:pt x="0" y="8163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792881" y="-1956228"/>
            <a:ext cx="4478710" cy="4478710"/>
          </a:xfrm>
          <a:custGeom>
            <a:avLst/>
            <a:gdLst/>
            <a:ahLst/>
            <a:cxnLst/>
            <a:rect r="r" b="b" t="t" l="l"/>
            <a:pathLst>
              <a:path h="4478710" w="4478710">
                <a:moveTo>
                  <a:pt x="0" y="0"/>
                </a:moveTo>
                <a:lnTo>
                  <a:pt x="4478709" y="0"/>
                </a:lnTo>
                <a:lnTo>
                  <a:pt x="4478709" y="4478710"/>
                </a:lnTo>
                <a:lnTo>
                  <a:pt x="0" y="44787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15991109" y="8320793"/>
            <a:ext cx="661368" cy="1875014"/>
          </a:xfrm>
          <a:custGeom>
            <a:avLst/>
            <a:gdLst/>
            <a:ahLst/>
            <a:cxnLst/>
            <a:rect r="r" b="b" t="t" l="l"/>
            <a:pathLst>
              <a:path h="1875014" w="661368">
                <a:moveTo>
                  <a:pt x="0" y="0"/>
                </a:moveTo>
                <a:lnTo>
                  <a:pt x="661368" y="0"/>
                </a:lnTo>
                <a:lnTo>
                  <a:pt x="661368" y="1875014"/>
                </a:lnTo>
                <a:lnTo>
                  <a:pt x="0" y="18750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16070" y="2962177"/>
            <a:ext cx="7844701" cy="2923756"/>
            <a:chOff x="0" y="0"/>
            <a:chExt cx="2066094" cy="77004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66094" cy="770043"/>
            </a:xfrm>
            <a:custGeom>
              <a:avLst/>
              <a:gdLst/>
              <a:ahLst/>
              <a:cxnLst/>
              <a:rect r="r" b="b" t="t" l="l"/>
              <a:pathLst>
                <a:path h="770043" w="2066094">
                  <a:moveTo>
                    <a:pt x="69083" y="0"/>
                  </a:moveTo>
                  <a:lnTo>
                    <a:pt x="1997011" y="0"/>
                  </a:lnTo>
                  <a:cubicBezTo>
                    <a:pt x="2035165" y="0"/>
                    <a:pt x="2066094" y="30929"/>
                    <a:pt x="2066094" y="69083"/>
                  </a:cubicBezTo>
                  <a:lnTo>
                    <a:pt x="2066094" y="700960"/>
                  </a:lnTo>
                  <a:cubicBezTo>
                    <a:pt x="2066094" y="719282"/>
                    <a:pt x="2058816" y="736853"/>
                    <a:pt x="2045860" y="749809"/>
                  </a:cubicBezTo>
                  <a:cubicBezTo>
                    <a:pt x="2032905" y="762764"/>
                    <a:pt x="2015333" y="770043"/>
                    <a:pt x="1997011" y="770043"/>
                  </a:cubicBezTo>
                  <a:lnTo>
                    <a:pt x="69083" y="770043"/>
                  </a:lnTo>
                  <a:cubicBezTo>
                    <a:pt x="50761" y="770043"/>
                    <a:pt x="33189" y="762764"/>
                    <a:pt x="20234" y="749809"/>
                  </a:cubicBezTo>
                  <a:cubicBezTo>
                    <a:pt x="7278" y="736853"/>
                    <a:pt x="0" y="719282"/>
                    <a:pt x="0" y="700960"/>
                  </a:cubicBezTo>
                  <a:lnTo>
                    <a:pt x="0" y="69083"/>
                  </a:lnTo>
                  <a:cubicBezTo>
                    <a:pt x="0" y="50761"/>
                    <a:pt x="7278" y="33189"/>
                    <a:pt x="20234" y="20234"/>
                  </a:cubicBezTo>
                  <a:cubicBezTo>
                    <a:pt x="33189" y="7278"/>
                    <a:pt x="50761" y="0"/>
                    <a:pt x="69083" y="0"/>
                  </a:cubicBezTo>
                  <a:close/>
                </a:path>
              </a:pathLst>
            </a:custGeom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114300"/>
              <a:ext cx="2066094" cy="8843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59"/>
                </a:lnSpc>
              </a:pPr>
              <a:r>
                <a:rPr lang="en-US" b="true" sz="2899">
                  <a:solidFill>
                    <a:srgbClr val="2B1512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MULTI BRANCH ACCESS</a:t>
              </a:r>
            </a:p>
            <a:p>
              <a:pPr algn="ctr">
                <a:lnSpc>
                  <a:spcPts val="3359"/>
                </a:lnSpc>
              </a:pPr>
            </a:p>
            <a:p>
              <a:pPr algn="l" marL="561336" indent="-280668" lvl="1">
                <a:lnSpc>
                  <a:spcPts val="3639"/>
                </a:lnSpc>
                <a:buFont typeface="Arial"/>
                <a:buChar char="•"/>
              </a:pPr>
              <a:r>
                <a:rPr lang="en-US" sz="2599">
                  <a:solidFill>
                    <a:srgbClr val="2B1512"/>
                  </a:solidFill>
                  <a:latin typeface="Touvlo"/>
                  <a:ea typeface="Touvlo"/>
                  <a:cs typeface="Touvlo"/>
                  <a:sym typeface="Touvlo"/>
                </a:rPr>
                <a:t>OWNER DASHBOARD</a:t>
              </a:r>
            </a:p>
            <a:p>
              <a:pPr algn="l" marL="561336" indent="-280668" lvl="1">
                <a:lnSpc>
                  <a:spcPts val="3639"/>
                </a:lnSpc>
                <a:buFont typeface="Arial"/>
                <a:buChar char="•"/>
              </a:pPr>
              <a:r>
                <a:rPr lang="en-US" sz="2599">
                  <a:solidFill>
                    <a:srgbClr val="2B1512"/>
                  </a:solidFill>
                  <a:latin typeface="Touvlo"/>
                  <a:ea typeface="Touvlo"/>
                  <a:cs typeface="Touvlo"/>
                  <a:sym typeface="Touvlo"/>
                </a:rPr>
                <a:t>BRANCH-LEVEL LOGIN</a:t>
              </a:r>
            </a:p>
            <a:p>
              <a:pPr algn="l" marL="561336" indent="-280668" lvl="1">
                <a:lnSpc>
                  <a:spcPts val="3639"/>
                </a:lnSpc>
                <a:buFont typeface="Arial"/>
                <a:buChar char="•"/>
              </a:pPr>
              <a:r>
                <a:rPr lang="en-US" sz="2599">
                  <a:solidFill>
                    <a:srgbClr val="2B1512"/>
                  </a:solidFill>
                  <a:latin typeface="Touvlo"/>
                  <a:ea typeface="Touvlo"/>
                  <a:cs typeface="Touvlo"/>
                  <a:sym typeface="Touvlo"/>
                </a:rPr>
                <a:t>CENTRALIZED CONTROL</a:t>
              </a:r>
            </a:p>
            <a:p>
              <a:pPr algn="l">
                <a:lnSpc>
                  <a:spcPts val="363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816070" y="544218"/>
            <a:ext cx="12520880" cy="1327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b="true" sz="6999" i="true">
                <a:solidFill>
                  <a:srgbClr val="2B1512"/>
                </a:solidFill>
                <a:latin typeface="Arial MT Pro Bold Italics"/>
                <a:ea typeface="Arial MT Pro Bold Italics"/>
                <a:cs typeface="Arial MT Pro Bold Italics"/>
                <a:sym typeface="Arial MT Pro Bold Italics"/>
              </a:rPr>
              <a:t>CORE MVP FEATURES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5492248" y="6526173"/>
            <a:ext cx="7844701" cy="2401443"/>
            <a:chOff x="0" y="0"/>
            <a:chExt cx="2066094" cy="63247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66094" cy="632479"/>
            </a:xfrm>
            <a:custGeom>
              <a:avLst/>
              <a:gdLst/>
              <a:ahLst/>
              <a:cxnLst/>
              <a:rect r="r" b="b" t="t" l="l"/>
              <a:pathLst>
                <a:path h="632479" w="2066094">
                  <a:moveTo>
                    <a:pt x="69083" y="0"/>
                  </a:moveTo>
                  <a:lnTo>
                    <a:pt x="1997011" y="0"/>
                  </a:lnTo>
                  <a:cubicBezTo>
                    <a:pt x="2035165" y="0"/>
                    <a:pt x="2066094" y="30929"/>
                    <a:pt x="2066094" y="69083"/>
                  </a:cubicBezTo>
                  <a:lnTo>
                    <a:pt x="2066094" y="563396"/>
                  </a:lnTo>
                  <a:cubicBezTo>
                    <a:pt x="2066094" y="581718"/>
                    <a:pt x="2058816" y="599289"/>
                    <a:pt x="2045860" y="612245"/>
                  </a:cubicBezTo>
                  <a:cubicBezTo>
                    <a:pt x="2032905" y="625200"/>
                    <a:pt x="2015333" y="632479"/>
                    <a:pt x="1997011" y="632479"/>
                  </a:cubicBezTo>
                  <a:lnTo>
                    <a:pt x="69083" y="632479"/>
                  </a:lnTo>
                  <a:cubicBezTo>
                    <a:pt x="50761" y="632479"/>
                    <a:pt x="33189" y="625200"/>
                    <a:pt x="20234" y="612245"/>
                  </a:cubicBezTo>
                  <a:cubicBezTo>
                    <a:pt x="7278" y="599289"/>
                    <a:pt x="0" y="581718"/>
                    <a:pt x="0" y="563396"/>
                  </a:cubicBezTo>
                  <a:lnTo>
                    <a:pt x="0" y="69083"/>
                  </a:lnTo>
                  <a:cubicBezTo>
                    <a:pt x="0" y="50761"/>
                    <a:pt x="7278" y="33189"/>
                    <a:pt x="20234" y="20234"/>
                  </a:cubicBezTo>
                  <a:cubicBezTo>
                    <a:pt x="33189" y="7278"/>
                    <a:pt x="50761" y="0"/>
                    <a:pt x="69083" y="0"/>
                  </a:cubicBezTo>
                  <a:close/>
                </a:path>
              </a:pathLst>
            </a:custGeom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14300"/>
              <a:ext cx="2066094" cy="7467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59"/>
                </a:lnSpc>
              </a:pPr>
              <a:r>
                <a:rPr lang="en-US" b="true" sz="2899">
                  <a:solidFill>
                    <a:srgbClr val="2B1512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LEAD MANAGEMENT</a:t>
              </a:r>
            </a:p>
            <a:p>
              <a:pPr algn="ctr">
                <a:lnSpc>
                  <a:spcPts val="3359"/>
                </a:lnSpc>
              </a:pPr>
            </a:p>
            <a:p>
              <a:pPr algn="just" marL="561336" indent="-280668" lvl="1">
                <a:lnSpc>
                  <a:spcPts val="3639"/>
                </a:lnSpc>
                <a:buFont typeface="Arial"/>
                <a:buChar char="•"/>
              </a:pPr>
              <a:r>
                <a:rPr lang="en-US" sz="2599">
                  <a:solidFill>
                    <a:srgbClr val="2B1512"/>
                  </a:solidFill>
                  <a:latin typeface="Touvlo"/>
                  <a:ea typeface="Touvlo"/>
                  <a:cs typeface="Touvlo"/>
                  <a:sym typeface="Touvlo"/>
                </a:rPr>
                <a:t>STATUS TRACKING </a:t>
              </a:r>
            </a:p>
            <a:p>
              <a:pPr algn="just" marL="561336" indent="-280668" lvl="1">
                <a:lnSpc>
                  <a:spcPts val="3639"/>
                </a:lnSpc>
                <a:buFont typeface="Arial"/>
                <a:buChar char="•"/>
              </a:pPr>
              <a:r>
                <a:rPr lang="en-US" sz="2599">
                  <a:solidFill>
                    <a:srgbClr val="2B1512"/>
                  </a:solidFill>
                  <a:latin typeface="Touvlo"/>
                  <a:ea typeface="Touvlo"/>
                  <a:cs typeface="Touvlo"/>
                  <a:sym typeface="Touvlo"/>
                </a:rPr>
                <a:t>FOLLOW-UP NOTES </a:t>
              </a:r>
            </a:p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414599" y="2962177"/>
            <a:ext cx="7844701" cy="2923756"/>
            <a:chOff x="0" y="0"/>
            <a:chExt cx="2066094" cy="77004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66094" cy="770043"/>
            </a:xfrm>
            <a:custGeom>
              <a:avLst/>
              <a:gdLst/>
              <a:ahLst/>
              <a:cxnLst/>
              <a:rect r="r" b="b" t="t" l="l"/>
              <a:pathLst>
                <a:path h="770043" w="2066094">
                  <a:moveTo>
                    <a:pt x="69083" y="0"/>
                  </a:moveTo>
                  <a:lnTo>
                    <a:pt x="1997011" y="0"/>
                  </a:lnTo>
                  <a:cubicBezTo>
                    <a:pt x="2035165" y="0"/>
                    <a:pt x="2066094" y="30929"/>
                    <a:pt x="2066094" y="69083"/>
                  </a:cubicBezTo>
                  <a:lnTo>
                    <a:pt x="2066094" y="700960"/>
                  </a:lnTo>
                  <a:cubicBezTo>
                    <a:pt x="2066094" y="719282"/>
                    <a:pt x="2058816" y="736853"/>
                    <a:pt x="2045860" y="749809"/>
                  </a:cubicBezTo>
                  <a:cubicBezTo>
                    <a:pt x="2032905" y="762764"/>
                    <a:pt x="2015333" y="770043"/>
                    <a:pt x="1997011" y="770043"/>
                  </a:cubicBezTo>
                  <a:lnTo>
                    <a:pt x="69083" y="770043"/>
                  </a:lnTo>
                  <a:cubicBezTo>
                    <a:pt x="50761" y="770043"/>
                    <a:pt x="33189" y="762764"/>
                    <a:pt x="20234" y="749809"/>
                  </a:cubicBezTo>
                  <a:cubicBezTo>
                    <a:pt x="7278" y="736853"/>
                    <a:pt x="0" y="719282"/>
                    <a:pt x="0" y="700960"/>
                  </a:cubicBezTo>
                  <a:lnTo>
                    <a:pt x="0" y="69083"/>
                  </a:lnTo>
                  <a:cubicBezTo>
                    <a:pt x="0" y="50761"/>
                    <a:pt x="7278" y="33189"/>
                    <a:pt x="20234" y="20234"/>
                  </a:cubicBezTo>
                  <a:cubicBezTo>
                    <a:pt x="33189" y="7278"/>
                    <a:pt x="50761" y="0"/>
                    <a:pt x="69083" y="0"/>
                  </a:cubicBezTo>
                  <a:close/>
                </a:path>
              </a:pathLst>
            </a:custGeom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114300"/>
              <a:ext cx="2066094" cy="8843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59"/>
                </a:lnSpc>
              </a:pPr>
              <a:r>
                <a:rPr lang="en-US" b="true" sz="2899">
                  <a:solidFill>
                    <a:srgbClr val="2B1512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BOOKING MANAGEMENT SYSTEM</a:t>
              </a:r>
            </a:p>
            <a:p>
              <a:pPr algn="ctr">
                <a:lnSpc>
                  <a:spcPts val="3359"/>
                </a:lnSpc>
              </a:pPr>
            </a:p>
            <a:p>
              <a:pPr algn="just" marL="561336" indent="-280668" lvl="1">
                <a:lnSpc>
                  <a:spcPts val="3639"/>
                </a:lnSpc>
                <a:buFont typeface="Arial"/>
                <a:buChar char="•"/>
              </a:pPr>
              <a:r>
                <a:rPr lang="en-US" sz="2599">
                  <a:solidFill>
                    <a:srgbClr val="2B1512"/>
                  </a:solidFill>
                  <a:latin typeface="Touvlo"/>
                  <a:ea typeface="Touvlo"/>
                  <a:cs typeface="Touvlo"/>
                  <a:sym typeface="Touvlo"/>
                </a:rPr>
                <a:t>REAL-TIME-CALENDER</a:t>
              </a:r>
            </a:p>
            <a:p>
              <a:pPr algn="just" marL="561336" indent="-280668" lvl="1">
                <a:lnSpc>
                  <a:spcPts val="3639"/>
                </a:lnSpc>
                <a:buFont typeface="Arial"/>
                <a:buChar char="•"/>
              </a:pPr>
              <a:r>
                <a:rPr lang="en-US" sz="2599">
                  <a:solidFill>
                    <a:srgbClr val="2B1512"/>
                  </a:solidFill>
                  <a:latin typeface="Touvlo"/>
                  <a:ea typeface="Touvlo"/>
                  <a:cs typeface="Touvlo"/>
                  <a:sym typeface="Touvlo"/>
                </a:rPr>
                <a:t>DATE BLOCKING</a:t>
              </a:r>
            </a:p>
            <a:p>
              <a:pPr algn="just" marL="561336" indent="-280668" lvl="1">
                <a:lnSpc>
                  <a:spcPts val="3639"/>
                </a:lnSpc>
                <a:buFont typeface="Arial"/>
                <a:buChar char="•"/>
              </a:pPr>
              <a:r>
                <a:rPr lang="en-US" sz="2599">
                  <a:solidFill>
                    <a:srgbClr val="2B1512"/>
                  </a:solidFill>
                  <a:latin typeface="Touvlo"/>
                  <a:ea typeface="Touvlo"/>
                  <a:cs typeface="Touvlo"/>
                  <a:sym typeface="Touvlo"/>
                </a:rPr>
                <a:t>CONFLICT </a:t>
              </a:r>
            </a:p>
            <a:p>
              <a:pPr algn="just">
                <a:lnSpc>
                  <a:spcPts val="3639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946199" y="8826487"/>
            <a:ext cx="2921026" cy="2921026"/>
          </a:xfrm>
          <a:custGeom>
            <a:avLst/>
            <a:gdLst/>
            <a:ahLst/>
            <a:cxnLst/>
            <a:rect r="r" b="b" t="t" l="l"/>
            <a:pathLst>
              <a:path h="2921026" w="2921026">
                <a:moveTo>
                  <a:pt x="0" y="0"/>
                </a:moveTo>
                <a:lnTo>
                  <a:pt x="2921026" y="0"/>
                </a:lnTo>
                <a:lnTo>
                  <a:pt x="2921026" y="2921026"/>
                </a:lnTo>
                <a:lnTo>
                  <a:pt x="0" y="29210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70739" y="620509"/>
            <a:ext cx="2878271" cy="816382"/>
          </a:xfrm>
          <a:custGeom>
            <a:avLst/>
            <a:gdLst/>
            <a:ahLst/>
            <a:cxnLst/>
            <a:rect r="r" b="b" t="t" l="l"/>
            <a:pathLst>
              <a:path h="816382" w="2878271">
                <a:moveTo>
                  <a:pt x="0" y="0"/>
                </a:moveTo>
                <a:lnTo>
                  <a:pt x="2878271" y="0"/>
                </a:lnTo>
                <a:lnTo>
                  <a:pt x="2878271" y="816382"/>
                </a:lnTo>
                <a:lnTo>
                  <a:pt x="0" y="8163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302413" y="-1795329"/>
            <a:ext cx="3287571" cy="3287571"/>
          </a:xfrm>
          <a:custGeom>
            <a:avLst/>
            <a:gdLst/>
            <a:ahLst/>
            <a:cxnLst/>
            <a:rect r="r" b="b" t="t" l="l"/>
            <a:pathLst>
              <a:path h="3287571" w="3287571">
                <a:moveTo>
                  <a:pt x="0" y="0"/>
                </a:moveTo>
                <a:lnTo>
                  <a:pt x="3287571" y="0"/>
                </a:lnTo>
                <a:lnTo>
                  <a:pt x="3287571" y="3287571"/>
                </a:lnTo>
                <a:lnTo>
                  <a:pt x="0" y="32875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25493" y="599671"/>
            <a:ext cx="16637015" cy="11147842"/>
          </a:xfrm>
          <a:custGeom>
            <a:avLst/>
            <a:gdLst/>
            <a:ahLst/>
            <a:cxnLst/>
            <a:rect r="r" b="b" t="t" l="l"/>
            <a:pathLst>
              <a:path h="11147842" w="16637015">
                <a:moveTo>
                  <a:pt x="0" y="0"/>
                </a:moveTo>
                <a:lnTo>
                  <a:pt x="16637014" y="0"/>
                </a:lnTo>
                <a:lnTo>
                  <a:pt x="16637014" y="11147842"/>
                </a:lnTo>
                <a:lnTo>
                  <a:pt x="0" y="1114784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6617" r="0" b="-6617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38274" y="-1460513"/>
            <a:ext cx="2921026" cy="2921026"/>
          </a:xfrm>
          <a:custGeom>
            <a:avLst/>
            <a:gdLst/>
            <a:ahLst/>
            <a:cxnLst/>
            <a:rect r="r" b="b" t="t" l="l"/>
            <a:pathLst>
              <a:path h="2921026" w="2921026">
                <a:moveTo>
                  <a:pt x="0" y="0"/>
                </a:moveTo>
                <a:lnTo>
                  <a:pt x="2921026" y="0"/>
                </a:lnTo>
                <a:lnTo>
                  <a:pt x="2921026" y="2921026"/>
                </a:lnTo>
                <a:lnTo>
                  <a:pt x="0" y="29210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708864" y="524760"/>
            <a:ext cx="2878271" cy="816382"/>
          </a:xfrm>
          <a:custGeom>
            <a:avLst/>
            <a:gdLst/>
            <a:ahLst/>
            <a:cxnLst/>
            <a:rect r="r" b="b" t="t" l="l"/>
            <a:pathLst>
              <a:path h="816382" w="2878271">
                <a:moveTo>
                  <a:pt x="0" y="0"/>
                </a:moveTo>
                <a:lnTo>
                  <a:pt x="2878271" y="0"/>
                </a:lnTo>
                <a:lnTo>
                  <a:pt x="2878271" y="816383"/>
                </a:lnTo>
                <a:lnTo>
                  <a:pt x="0" y="8163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906960" y="-1644043"/>
            <a:ext cx="4478710" cy="4478710"/>
          </a:xfrm>
          <a:custGeom>
            <a:avLst/>
            <a:gdLst/>
            <a:ahLst/>
            <a:cxnLst/>
            <a:rect r="r" b="b" t="t" l="l"/>
            <a:pathLst>
              <a:path h="4478710" w="4478710">
                <a:moveTo>
                  <a:pt x="0" y="0"/>
                </a:moveTo>
                <a:lnTo>
                  <a:pt x="4478710" y="0"/>
                </a:lnTo>
                <a:lnTo>
                  <a:pt x="4478710" y="4478710"/>
                </a:lnTo>
                <a:lnTo>
                  <a:pt x="0" y="44787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1635523" y="8320793"/>
            <a:ext cx="661368" cy="1875014"/>
          </a:xfrm>
          <a:custGeom>
            <a:avLst/>
            <a:gdLst/>
            <a:ahLst/>
            <a:cxnLst/>
            <a:rect r="r" b="b" t="t" l="l"/>
            <a:pathLst>
              <a:path h="1875014" w="661368">
                <a:moveTo>
                  <a:pt x="0" y="0"/>
                </a:moveTo>
                <a:lnTo>
                  <a:pt x="661368" y="0"/>
                </a:lnTo>
                <a:lnTo>
                  <a:pt x="661368" y="1875014"/>
                </a:lnTo>
                <a:lnTo>
                  <a:pt x="0" y="18750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701635" y="9041606"/>
            <a:ext cx="3557665" cy="433388"/>
          </a:xfrm>
          <a:custGeom>
            <a:avLst/>
            <a:gdLst/>
            <a:ahLst/>
            <a:cxnLst/>
            <a:rect r="r" b="b" t="t" l="l"/>
            <a:pathLst>
              <a:path h="433388" w="3557665">
                <a:moveTo>
                  <a:pt x="0" y="0"/>
                </a:moveTo>
                <a:lnTo>
                  <a:pt x="3557665" y="0"/>
                </a:lnTo>
                <a:lnTo>
                  <a:pt x="3557665" y="433388"/>
                </a:lnTo>
                <a:lnTo>
                  <a:pt x="0" y="43338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05949" y="1936132"/>
            <a:ext cx="17676101" cy="6417925"/>
          </a:xfrm>
          <a:custGeom>
            <a:avLst/>
            <a:gdLst/>
            <a:ahLst/>
            <a:cxnLst/>
            <a:rect r="r" b="b" t="t" l="l"/>
            <a:pathLst>
              <a:path h="6417925" w="17676101">
                <a:moveTo>
                  <a:pt x="0" y="0"/>
                </a:moveTo>
                <a:lnTo>
                  <a:pt x="17676102" y="0"/>
                </a:lnTo>
                <a:lnTo>
                  <a:pt x="17676102" y="6417925"/>
                </a:lnTo>
                <a:lnTo>
                  <a:pt x="0" y="64179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-27988" r="0" b="-15458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385912" y="258060"/>
            <a:ext cx="13711575" cy="1327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b="true" sz="6999" i="true">
                <a:solidFill>
                  <a:srgbClr val="2B1512"/>
                </a:solidFill>
                <a:latin typeface="Arial MT Pro Bold Italics"/>
                <a:ea typeface="Arial MT Pro Bold Italics"/>
                <a:cs typeface="Arial MT Pro Bold Italics"/>
                <a:sym typeface="Arial MT Pro Bold Italics"/>
              </a:rPr>
              <a:t>BUSSINESS MODEL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5427" y="2607495"/>
            <a:ext cx="2921026" cy="2921026"/>
          </a:xfrm>
          <a:custGeom>
            <a:avLst/>
            <a:gdLst/>
            <a:ahLst/>
            <a:cxnLst/>
            <a:rect r="r" b="b" t="t" l="l"/>
            <a:pathLst>
              <a:path h="2921026" w="2921026">
                <a:moveTo>
                  <a:pt x="0" y="0"/>
                </a:moveTo>
                <a:lnTo>
                  <a:pt x="2921026" y="0"/>
                </a:lnTo>
                <a:lnTo>
                  <a:pt x="2921026" y="2921027"/>
                </a:lnTo>
                <a:lnTo>
                  <a:pt x="0" y="29210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85427" y="8850109"/>
            <a:ext cx="2878271" cy="816382"/>
          </a:xfrm>
          <a:custGeom>
            <a:avLst/>
            <a:gdLst/>
            <a:ahLst/>
            <a:cxnLst/>
            <a:rect r="r" b="b" t="t" l="l"/>
            <a:pathLst>
              <a:path h="816382" w="2878271">
                <a:moveTo>
                  <a:pt x="0" y="0"/>
                </a:moveTo>
                <a:lnTo>
                  <a:pt x="2878271" y="0"/>
                </a:lnTo>
                <a:lnTo>
                  <a:pt x="2878271" y="816382"/>
                </a:lnTo>
                <a:lnTo>
                  <a:pt x="0" y="8163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597949" y="-1643786"/>
            <a:ext cx="3287571" cy="3287571"/>
          </a:xfrm>
          <a:custGeom>
            <a:avLst/>
            <a:gdLst/>
            <a:ahLst/>
            <a:cxnLst/>
            <a:rect r="r" b="b" t="t" l="l"/>
            <a:pathLst>
              <a:path h="3287571" w="3287571">
                <a:moveTo>
                  <a:pt x="0" y="0"/>
                </a:moveTo>
                <a:lnTo>
                  <a:pt x="3287571" y="0"/>
                </a:lnTo>
                <a:lnTo>
                  <a:pt x="3287571" y="3287572"/>
                </a:lnTo>
                <a:lnTo>
                  <a:pt x="0" y="32875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325303" y="3584035"/>
            <a:ext cx="11610273" cy="2763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24"/>
              </a:lnSpc>
            </a:pPr>
            <a:r>
              <a:rPr lang="en-US" b="true" sz="14517" i="true">
                <a:solidFill>
                  <a:srgbClr val="2B1512"/>
                </a:solidFill>
                <a:latin typeface="Arial MT Pro Bold Italics"/>
                <a:ea typeface="Arial MT Pro Bold Italics"/>
                <a:cs typeface="Arial MT Pro Bold Italics"/>
                <a:sym typeface="Arial MT Pro Bold Italics"/>
              </a:rPr>
              <a:t>THANK YOU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3475063" y="8205978"/>
            <a:ext cx="2921026" cy="2921026"/>
          </a:xfrm>
          <a:custGeom>
            <a:avLst/>
            <a:gdLst/>
            <a:ahLst/>
            <a:cxnLst/>
            <a:rect r="r" b="b" t="t" l="l"/>
            <a:pathLst>
              <a:path h="2921026" w="2921026">
                <a:moveTo>
                  <a:pt x="0" y="0"/>
                </a:moveTo>
                <a:lnTo>
                  <a:pt x="2921026" y="0"/>
                </a:lnTo>
                <a:lnTo>
                  <a:pt x="2921026" y="2921026"/>
                </a:lnTo>
                <a:lnTo>
                  <a:pt x="0" y="29210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291790" y="7839433"/>
            <a:ext cx="3287571" cy="3287571"/>
          </a:xfrm>
          <a:custGeom>
            <a:avLst/>
            <a:gdLst/>
            <a:ahLst/>
            <a:cxnLst/>
            <a:rect r="r" b="b" t="t" l="l"/>
            <a:pathLst>
              <a:path h="3287571" w="3287571">
                <a:moveTo>
                  <a:pt x="0" y="0"/>
                </a:moveTo>
                <a:lnTo>
                  <a:pt x="3287571" y="0"/>
                </a:lnTo>
                <a:lnTo>
                  <a:pt x="3287571" y="3287571"/>
                </a:lnTo>
                <a:lnTo>
                  <a:pt x="0" y="32875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DAHCq4v7NFQ</dc:identifier>
  <dcterms:modified xsi:type="dcterms:W3CDTF">2011-08-01T06:04:30Z</dcterms:modified>
  <cp:revision>1</cp:revision>
  <dc:title>HACKX HACKATHON</dc:title>
</cp:coreProperties>
</file>